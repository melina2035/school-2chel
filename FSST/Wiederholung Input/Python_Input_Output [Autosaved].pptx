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7559675" cy="10691813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0" autoAdjust="0"/>
    <p:restoredTop sz="94660"/>
  </p:normalViewPr>
  <p:slideViewPr>
    <p:cSldViewPr snapToGrid="0">
      <p:cViewPr varScale="1">
        <p:scale>
          <a:sx n="92" d="100"/>
          <a:sy n="92" d="100"/>
        </p:scale>
        <p:origin x="12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DC222C5-9709-4E7B-B290-C4B79C5B4B3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44E86CA-CCC4-4D11-A30A-1A1BEBC00A1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3743539-3AE6-4DD6-9FF5-CDC77E053B0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4CC98E6-7A41-40CD-933E-7FE811DFBF3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0A533A7-0594-48A5-9388-0A77BCD4FD3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7B85396-FF4D-45F3-B783-CF706549C38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68F294F-0FB3-4E8F-86BA-1923BFBB88C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064CD81-40F5-47DF-A14B-29474320B6C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5D91713-EA59-4C29-AF6E-CD300ABD362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5E20F73-8435-4CE6-9B99-7A1FE110FD1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E922B00-6BA8-4469-BD9C-7BC70804ADE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749880" y="713160"/>
            <a:ext cx="53031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306777"/>
                </a:solidFill>
                <a:effectLst/>
                <a:uFillTx/>
                <a:latin typeface="Aptos"/>
              </a:rPr>
              <a:t>PYTHON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749880" y="1234440"/>
            <a:ext cx="6034680" cy="132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Input &amp;</a:t>
            </a:r>
            <a:br>
              <a:rPr sz="4000"/>
            </a:br>
            <a:r>
              <a:rPr lang="en-US" sz="4000" b="1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Output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777240" y="2788920"/>
            <a:ext cx="52117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100" b="0" u="none" strike="noStrike">
                <a:solidFill>
                  <a:srgbClr val="5C6267"/>
                </a:solidFill>
                <a:effectLst/>
                <a:uFillTx/>
                <a:latin typeface="Aptos"/>
              </a:rPr>
              <a:t>Wie Python Daten bekommt</a:t>
            </a:r>
            <a:br>
              <a:rPr sz="2100"/>
            </a:br>
            <a:r>
              <a:rPr lang="en-US" sz="2100" b="0" u="none" strike="noStrike">
                <a:solidFill>
                  <a:srgbClr val="5C6267"/>
                </a:solidFill>
                <a:effectLst/>
                <a:uFillTx/>
                <a:latin typeface="Aptos"/>
              </a:rPr>
              <a:t>und sie wieder ausgibt.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Rounded Rectangle 4"/>
          <p:cNvSpPr/>
          <p:nvPr/>
        </p:nvSpPr>
        <p:spPr>
          <a:xfrm>
            <a:off x="6720840" y="1325880"/>
            <a:ext cx="4388760" cy="3337200"/>
          </a:xfrm>
          <a:prstGeom prst="roundRect">
            <a:avLst>
              <a:gd name="adj" fmla="val 8000"/>
            </a:avLst>
          </a:prstGeom>
          <a:solidFill>
            <a:srgbClr val="EEEEE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6903720" y="1490400"/>
            <a:ext cx="4023000" cy="301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name = input("Name: ")</a:t>
            </a:r>
            <a:br>
              <a:rPr sz="1500"/>
            </a:b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print("Hallo", name)</a:t>
            </a:r>
            <a:br>
              <a:rPr sz="1500"/>
            </a:br>
            <a:br>
              <a:rPr sz="1500"/>
            </a:b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# Beispiel</a:t>
            </a:r>
            <a:br>
              <a:rPr sz="1500"/>
            </a:b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Name: Alex</a:t>
            </a:r>
            <a:br>
              <a:rPr sz="1500"/>
            </a:b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Hallo Alex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/>
          <p:nvPr/>
        </p:nvSpPr>
        <p:spPr>
          <a:xfrm>
            <a:off x="658440" y="502920"/>
            <a:ext cx="107895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900" b="1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Was ist Input und Output?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Rounded Rectangle 2"/>
          <p:cNvSpPr/>
          <p:nvPr/>
        </p:nvSpPr>
        <p:spPr>
          <a:xfrm>
            <a:off x="658440" y="1197720"/>
            <a:ext cx="685440" cy="40680"/>
          </a:xfrm>
          <a:prstGeom prst="roundRect">
            <a:avLst>
              <a:gd name="adj" fmla="val 8000"/>
            </a:avLst>
          </a:prstGeom>
          <a:solidFill>
            <a:srgbClr val="30677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5760" rIns="90000" bIns="-576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Box 4"/>
          <p:cNvSpPr/>
          <p:nvPr/>
        </p:nvSpPr>
        <p:spPr>
          <a:xfrm>
            <a:off x="822960" y="1965960"/>
            <a:ext cx="21942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306777"/>
                </a:solidFill>
                <a:effectLst/>
                <a:uFillTx/>
                <a:latin typeface="Aptos"/>
              </a:rPr>
              <a:t>Input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5"/>
          <p:cNvSpPr/>
          <p:nvPr/>
        </p:nvSpPr>
        <p:spPr>
          <a:xfrm>
            <a:off x="822960" y="2514600"/>
            <a:ext cx="448020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Das Programm bekommt etwas vom Benutzer.</a:t>
            </a:r>
            <a:br>
              <a:rPr sz="1700"/>
            </a:br>
            <a:r>
              <a:rPr lang="en-US" sz="1700" b="0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Zum Beispiel einen Namen oder eine Zahl.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6"/>
          <p:cNvSpPr/>
          <p:nvPr/>
        </p:nvSpPr>
        <p:spPr>
          <a:xfrm>
            <a:off x="6172200" y="196596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306777"/>
                </a:solidFill>
                <a:effectLst/>
                <a:uFillTx/>
                <a:latin typeface="Aptos"/>
              </a:rPr>
              <a:t>Output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7"/>
          <p:cNvSpPr/>
          <p:nvPr/>
        </p:nvSpPr>
        <p:spPr>
          <a:xfrm>
            <a:off x="6172200" y="2514600"/>
            <a:ext cx="457164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Das Programm zeigt etwas an.</a:t>
            </a:r>
            <a:br>
              <a:rPr sz="1700"/>
            </a:br>
            <a:r>
              <a:rPr lang="en-US" sz="1700" b="0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Zum Beispiel das Ergebnis einer Rechnung.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Rounded Rectangle 8"/>
          <p:cNvSpPr/>
          <p:nvPr/>
        </p:nvSpPr>
        <p:spPr>
          <a:xfrm>
            <a:off x="4526280" y="3977640"/>
            <a:ext cx="3931920" cy="594000"/>
          </a:xfrm>
          <a:prstGeom prst="roundRect">
            <a:avLst>
              <a:gd name="adj" fmla="val 8000"/>
            </a:avLst>
          </a:prstGeom>
          <a:solidFill>
            <a:srgbClr val="E8EDED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Box 9"/>
          <p:cNvSpPr/>
          <p:nvPr/>
        </p:nvSpPr>
        <p:spPr>
          <a:xfrm>
            <a:off x="4709160" y="4123800"/>
            <a:ext cx="3291840" cy="30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Input → Verarbeitung → Output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ounded Rectangle 10"/>
          <p:cNvSpPr/>
          <p:nvPr/>
        </p:nvSpPr>
        <p:spPr>
          <a:xfrm>
            <a:off x="914400" y="4892040"/>
            <a:ext cx="10058040" cy="868320"/>
          </a:xfrm>
          <a:prstGeom prst="roundRect">
            <a:avLst>
              <a:gd name="adj" fmla="val 8000"/>
            </a:avLst>
          </a:prstGeom>
          <a:solidFill>
            <a:srgbClr val="EEEEE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11"/>
          <p:cNvSpPr/>
          <p:nvPr/>
        </p:nvSpPr>
        <p:spPr>
          <a:xfrm>
            <a:off x="1097280" y="5056560"/>
            <a:ext cx="96922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name = input("Wie heißt du? ")</a:t>
            </a:r>
            <a:br>
              <a:rPr sz="1500"/>
            </a:b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print("Hallo", name)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12"/>
          <p:cNvSpPr/>
          <p:nvPr/>
        </p:nvSpPr>
        <p:spPr>
          <a:xfrm>
            <a:off x="10881360" y="6419160"/>
            <a:ext cx="548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267"/>
                </a:solidFill>
                <a:effectLst/>
                <a:uFillTx/>
                <a:latin typeface="Aptos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Box 1"/>
          <p:cNvSpPr/>
          <p:nvPr/>
        </p:nvSpPr>
        <p:spPr>
          <a:xfrm>
            <a:off x="658440" y="502920"/>
            <a:ext cx="107895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900" b="1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Mit print() etwas ausgeben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ounded Rectangle 2"/>
          <p:cNvSpPr/>
          <p:nvPr/>
        </p:nvSpPr>
        <p:spPr>
          <a:xfrm>
            <a:off x="658440" y="1197720"/>
            <a:ext cx="685440" cy="40680"/>
          </a:xfrm>
          <a:prstGeom prst="roundRect">
            <a:avLst>
              <a:gd name="adj" fmla="val 8000"/>
            </a:avLst>
          </a:prstGeom>
          <a:solidFill>
            <a:srgbClr val="30677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5760" rIns="90000" bIns="-576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Rounded Rectangle 4"/>
          <p:cNvSpPr/>
          <p:nvPr/>
        </p:nvSpPr>
        <p:spPr>
          <a:xfrm>
            <a:off x="822960" y="1874520"/>
            <a:ext cx="5486040" cy="2422800"/>
          </a:xfrm>
          <a:prstGeom prst="roundRect">
            <a:avLst>
              <a:gd name="adj" fmla="val 8000"/>
            </a:avLst>
          </a:prstGeom>
          <a:solidFill>
            <a:srgbClr val="EEEEE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5"/>
          <p:cNvSpPr/>
          <p:nvPr/>
        </p:nvSpPr>
        <p:spPr>
          <a:xfrm>
            <a:off x="1005840" y="2039040"/>
            <a:ext cx="5120280" cy="21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print("Hello World")</a:t>
            </a:r>
            <a:br>
              <a:rPr sz="1500"/>
            </a:br>
            <a:br>
              <a:rPr sz="1500"/>
            </a:b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name = "Alex"</a:t>
            </a:r>
            <a:br>
              <a:rPr sz="1500"/>
            </a:b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print("Mein Name ist", name)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6"/>
          <p:cNvSpPr/>
          <p:nvPr/>
        </p:nvSpPr>
        <p:spPr>
          <a:xfrm>
            <a:off x="6629400" y="1920240"/>
            <a:ext cx="4297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306777"/>
                </a:solidFill>
                <a:effectLst/>
                <a:uFillTx/>
                <a:latin typeface="Aptos"/>
              </a:rPr>
              <a:t>Was passiert hier?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7"/>
          <p:cNvSpPr/>
          <p:nvPr/>
        </p:nvSpPr>
        <p:spPr>
          <a:xfrm>
            <a:off x="6629400" y="2560320"/>
            <a:ext cx="4160160" cy="159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• Text steht in Anführungszeichen.</a:t>
            </a:r>
            <a:br>
              <a:rPr sz="1600"/>
            </a:br>
            <a:r>
              <a:rPr lang="en-US" sz="1600" b="0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• Eine Variable steht ohne Anführungszeichen.</a:t>
            </a:r>
            <a:br>
              <a:rPr sz="1600"/>
            </a:br>
            <a:r>
              <a:rPr lang="en-US" sz="1600" b="0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• Mehrere Werte kann man mit Kommas ausgeben.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8"/>
          <p:cNvSpPr/>
          <p:nvPr/>
        </p:nvSpPr>
        <p:spPr>
          <a:xfrm>
            <a:off x="841320" y="4800600"/>
            <a:ext cx="53946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5C6267"/>
                </a:solidFill>
                <a:effectLst/>
                <a:uFillTx/>
                <a:latin typeface="Aptos"/>
              </a:rPr>
              <a:t>Ausgabe: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9"/>
          <p:cNvSpPr/>
          <p:nvPr/>
        </p:nvSpPr>
        <p:spPr>
          <a:xfrm>
            <a:off x="841320" y="5230440"/>
            <a:ext cx="539460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Hello World</a:t>
            </a:r>
            <a:br>
              <a:rPr sz="1700"/>
            </a:br>
            <a:r>
              <a:rPr lang="en-US" sz="17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Mein Name ist Alex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10"/>
          <p:cNvSpPr/>
          <p:nvPr/>
        </p:nvSpPr>
        <p:spPr>
          <a:xfrm>
            <a:off x="10881360" y="6419160"/>
            <a:ext cx="548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267"/>
                </a:solidFill>
                <a:effectLst/>
                <a:uFillTx/>
                <a:latin typeface="Aptos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Box 1"/>
          <p:cNvSpPr/>
          <p:nvPr/>
        </p:nvSpPr>
        <p:spPr>
          <a:xfrm>
            <a:off x="658440" y="502920"/>
            <a:ext cx="107895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900" b="1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print() ein bisschen genauer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Rounded Rectangle 2"/>
          <p:cNvSpPr/>
          <p:nvPr/>
        </p:nvSpPr>
        <p:spPr>
          <a:xfrm>
            <a:off x="658440" y="1197720"/>
            <a:ext cx="685440" cy="40680"/>
          </a:xfrm>
          <a:prstGeom prst="roundRect">
            <a:avLst>
              <a:gd name="adj" fmla="val 8000"/>
            </a:avLst>
          </a:prstGeom>
          <a:solidFill>
            <a:srgbClr val="30677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5760" rIns="90000" bIns="-576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Rounded Rectangle 4"/>
          <p:cNvSpPr/>
          <p:nvPr/>
        </p:nvSpPr>
        <p:spPr>
          <a:xfrm>
            <a:off x="822960" y="1828800"/>
            <a:ext cx="5486040" cy="1371600"/>
          </a:xfrm>
          <a:prstGeom prst="roundRect">
            <a:avLst>
              <a:gd name="adj" fmla="val 8000"/>
            </a:avLst>
          </a:prstGeom>
          <a:solidFill>
            <a:srgbClr val="EEEEE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TextBox 5"/>
          <p:cNvSpPr/>
          <p:nvPr/>
        </p:nvSpPr>
        <p:spPr>
          <a:xfrm>
            <a:off x="1005840" y="1993320"/>
            <a:ext cx="5120280" cy="306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print("Ich bin", 21, "Jahre alt")</a:t>
            </a:r>
            <a:br>
              <a:rPr sz="1500"/>
            </a:br>
            <a:br>
              <a:rPr sz="1500"/>
            </a:b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print("Hallo", end=" ")</a:t>
            </a:r>
            <a:br>
              <a:rPr sz="1500"/>
            </a:b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print("Welt!")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6"/>
          <p:cNvSpPr/>
          <p:nvPr/>
        </p:nvSpPr>
        <p:spPr>
          <a:xfrm>
            <a:off x="6629400" y="1874520"/>
            <a:ext cx="4114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306777"/>
                </a:solidFill>
                <a:effectLst/>
                <a:uFillTx/>
                <a:latin typeface="Aptos"/>
              </a:rPr>
              <a:t>Das Komma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7"/>
          <p:cNvSpPr/>
          <p:nvPr/>
        </p:nvSpPr>
        <p:spPr>
          <a:xfrm>
            <a:off x="6629400" y="2423160"/>
            <a:ext cx="425160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Bei mehreren Werten setzt print() standardmäßig ein Leerzeichen dazwischen.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8"/>
          <p:cNvSpPr/>
          <p:nvPr/>
        </p:nvSpPr>
        <p:spPr>
          <a:xfrm>
            <a:off x="6629400" y="3474720"/>
            <a:ext cx="4114440" cy="3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306777"/>
                </a:solidFill>
                <a:effectLst/>
                <a:uFillTx/>
                <a:latin typeface="Aptos"/>
              </a:rPr>
              <a:t>end=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9"/>
          <p:cNvSpPr/>
          <p:nvPr/>
        </p:nvSpPr>
        <p:spPr>
          <a:xfrm>
            <a:off x="6629400" y="4023360"/>
            <a:ext cx="425160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Normalerweise macht print() danach eine neue Zeile.</a:t>
            </a:r>
            <a:br>
              <a:rPr sz="1600"/>
            </a:br>
            <a:r>
              <a:rPr lang="en-US" sz="1600" b="0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Mit end=" " bleibt man in derselben Zeile.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11"/>
          <p:cNvSpPr/>
          <p:nvPr/>
        </p:nvSpPr>
        <p:spPr>
          <a:xfrm>
            <a:off x="10881360" y="6419160"/>
            <a:ext cx="548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267"/>
                </a:solidFill>
                <a:effectLst/>
                <a:uFillTx/>
                <a:latin typeface="Aptos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25"/>
          <p:cNvSpPr/>
          <p:nvPr/>
        </p:nvSpPr>
        <p:spPr>
          <a:xfrm>
            <a:off x="841680" y="4800600"/>
            <a:ext cx="5394600" cy="28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5C6267"/>
                </a:solidFill>
                <a:effectLst/>
                <a:uFillTx/>
                <a:latin typeface="Aptos"/>
              </a:rPr>
              <a:t>Ausgabe: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26"/>
          <p:cNvSpPr/>
          <p:nvPr/>
        </p:nvSpPr>
        <p:spPr>
          <a:xfrm>
            <a:off x="841680" y="5230800"/>
            <a:ext cx="5394600" cy="86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Ich bin 21 Jahre alt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Hello World</a:t>
            </a:r>
            <a:br>
              <a:rPr sz="1700"/>
            </a:b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1"/>
          <p:cNvSpPr/>
          <p:nvPr/>
        </p:nvSpPr>
        <p:spPr>
          <a:xfrm>
            <a:off x="658440" y="502920"/>
            <a:ext cx="107895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900" b="1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Variablen in Text einsetzen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ounded Rectangle 2"/>
          <p:cNvSpPr/>
          <p:nvPr/>
        </p:nvSpPr>
        <p:spPr>
          <a:xfrm>
            <a:off x="658440" y="1197720"/>
            <a:ext cx="685440" cy="40680"/>
          </a:xfrm>
          <a:prstGeom prst="roundRect">
            <a:avLst>
              <a:gd name="adj" fmla="val 8000"/>
            </a:avLst>
          </a:prstGeom>
          <a:solidFill>
            <a:srgbClr val="30677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5760" rIns="90000" bIns="-576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Box 3"/>
          <p:cNvSpPr/>
          <p:nvPr/>
        </p:nvSpPr>
        <p:spPr>
          <a:xfrm>
            <a:off x="658440" y="1353240"/>
            <a:ext cx="106981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5C6267"/>
                </a:solidFill>
                <a:effectLst/>
                <a:uFillTx/>
                <a:latin typeface="Aptos"/>
              </a:rPr>
              <a:t>Eine praktische Möglichkeit dafür sind f-Strings.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ounded Rectangle 4"/>
          <p:cNvSpPr/>
          <p:nvPr/>
        </p:nvSpPr>
        <p:spPr>
          <a:xfrm>
            <a:off x="822960" y="1783080"/>
            <a:ext cx="5668920" cy="2788920"/>
          </a:xfrm>
          <a:prstGeom prst="roundRect">
            <a:avLst>
              <a:gd name="adj" fmla="val 8000"/>
            </a:avLst>
          </a:prstGeom>
          <a:solidFill>
            <a:srgbClr val="EEEEE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TextBox 5"/>
          <p:cNvSpPr/>
          <p:nvPr/>
        </p:nvSpPr>
        <p:spPr>
          <a:xfrm>
            <a:off x="1005840" y="1947600"/>
            <a:ext cx="5303160" cy="23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name = "John"</a:t>
            </a:r>
            <a:br>
              <a:rPr sz="1500"/>
            </a:b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age = 30</a:t>
            </a:r>
            <a:br>
              <a:rPr sz="1500"/>
            </a:br>
            <a:br>
              <a:rPr sz="1500"/>
            </a:b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print(f"Ich heiße {name}.")</a:t>
            </a:r>
            <a:br>
              <a:rPr sz="1500"/>
            </a:b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print(f"Ich bin {age:.2f} Jahre alt.")</a:t>
            </a:r>
            <a:br>
              <a:rPr sz="1500"/>
            </a:br>
            <a:br>
              <a:rPr sz="1500"/>
            </a:b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# {name} und {age} werden ersetzt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#Ich heiße </a:t>
            </a:r>
            <a:r>
              <a:rPr lang="en-US" sz="1500" b="0" u="none" strike="noStrike">
                <a:solidFill>
                  <a:srgbClr val="262B30"/>
                </a:solidFill>
                <a:effectLst/>
                <a:highlight>
                  <a:srgbClr val="FFFF00"/>
                </a:highlight>
                <a:uFillTx/>
                <a:latin typeface="Cascadia Code"/>
              </a:rPr>
              <a:t>John</a:t>
            </a: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#Ich bin </a:t>
            </a:r>
            <a:r>
              <a:rPr lang="en-US" sz="1500" b="0" u="none" strike="noStrike">
                <a:solidFill>
                  <a:srgbClr val="262B30"/>
                </a:solidFill>
                <a:effectLst/>
                <a:highlight>
                  <a:srgbClr val="FFFF00"/>
                </a:highlight>
                <a:uFillTx/>
                <a:latin typeface="Cascadia Code"/>
              </a:rPr>
              <a:t>30.00</a:t>
            </a: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 Jahre alt.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6"/>
          <p:cNvSpPr/>
          <p:nvPr/>
        </p:nvSpPr>
        <p:spPr>
          <a:xfrm>
            <a:off x="914400" y="4755240"/>
            <a:ext cx="3931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306777"/>
                </a:solidFill>
                <a:effectLst/>
                <a:uFillTx/>
                <a:latin typeface="Aptos"/>
              </a:rPr>
              <a:t>Die Idee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7"/>
          <p:cNvSpPr/>
          <p:nvPr/>
        </p:nvSpPr>
        <p:spPr>
          <a:xfrm>
            <a:off x="1143000" y="5257800"/>
            <a:ext cx="402300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Ein f vor dem String bedeutet:</a:t>
            </a:r>
            <a:br>
              <a:rPr sz="1700"/>
            </a:br>
            <a:r>
              <a:rPr lang="en-US" sz="1700" b="0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„Setze die Variablen in den geschweiften Klammern ein.“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Rounded Rectangle 8"/>
          <p:cNvSpPr/>
          <p:nvPr/>
        </p:nvSpPr>
        <p:spPr>
          <a:xfrm>
            <a:off x="7086600" y="1600200"/>
            <a:ext cx="3840120" cy="5029200"/>
          </a:xfrm>
          <a:prstGeom prst="roundRect">
            <a:avLst>
              <a:gd name="adj" fmla="val 8000"/>
            </a:avLst>
          </a:prstGeom>
          <a:solidFill>
            <a:srgbClr val="E8EDED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Box 9"/>
          <p:cNvSpPr/>
          <p:nvPr/>
        </p:nvSpPr>
        <p:spPr>
          <a:xfrm>
            <a:off x="7315200" y="1828800"/>
            <a:ext cx="3382920" cy="502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f — fixed-point decimal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e — scientific notation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g — general number format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d — decimal integer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b — binary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o — octal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x — hexadecimal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% — percentage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s — string format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10"/>
          <p:cNvSpPr/>
          <p:nvPr/>
        </p:nvSpPr>
        <p:spPr>
          <a:xfrm>
            <a:off x="10881360" y="6419160"/>
            <a:ext cx="548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267"/>
                </a:solidFill>
                <a:effectLst/>
                <a:uFillTx/>
                <a:latin typeface="Aptos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Box 17"/>
          <p:cNvSpPr/>
          <p:nvPr/>
        </p:nvSpPr>
        <p:spPr>
          <a:xfrm>
            <a:off x="658440" y="502920"/>
            <a:ext cx="10789560" cy="532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900" b="1" u="none" strike="noStrike" dirty="0" err="1">
                <a:solidFill>
                  <a:srgbClr val="262B30"/>
                </a:solidFill>
                <a:effectLst/>
                <a:uFillTx/>
                <a:latin typeface="Aptos"/>
              </a:rPr>
              <a:t>Fromat</a:t>
            </a:r>
            <a:r>
              <a:rPr lang="en-US" sz="2900" b="1" u="none" strike="noStrike" dirty="0">
                <a:solidFill>
                  <a:srgbClr val="262B30"/>
                </a:solidFill>
                <a:effectLst/>
                <a:uFillTx/>
                <a:latin typeface="Aptos"/>
              </a:rPr>
              <a:t> </a:t>
            </a:r>
            <a:r>
              <a:rPr lang="en-US" sz="2900" b="1" u="none" strike="noStrike" dirty="0" err="1">
                <a:solidFill>
                  <a:srgbClr val="262B30"/>
                </a:solidFill>
                <a:effectLst/>
                <a:uFillTx/>
                <a:latin typeface="Aptos"/>
              </a:rPr>
              <a:t>Arten</a:t>
            </a:r>
            <a:endParaRPr lang="en-US" sz="2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ounded Rectangle 7"/>
          <p:cNvSpPr/>
          <p:nvPr/>
        </p:nvSpPr>
        <p:spPr>
          <a:xfrm>
            <a:off x="658440" y="1197720"/>
            <a:ext cx="685440" cy="40680"/>
          </a:xfrm>
          <a:prstGeom prst="roundRect">
            <a:avLst>
              <a:gd name="adj" fmla="val 8000"/>
            </a:avLst>
          </a:prstGeom>
          <a:solidFill>
            <a:srgbClr val="30677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5760" rIns="90000" bIns="-576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Box 18"/>
          <p:cNvSpPr/>
          <p:nvPr/>
        </p:nvSpPr>
        <p:spPr>
          <a:xfrm>
            <a:off x="658440" y="1353240"/>
            <a:ext cx="10698120" cy="30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de-DE" sz="1400" noProof="0" dirty="0">
                <a:solidFill>
                  <a:srgbClr val="5C6267"/>
                </a:solidFill>
                <a:latin typeface="Aptos"/>
              </a:rPr>
              <a:t>Wie kann ich meinen Text Positioniren?</a:t>
            </a:r>
            <a:endParaRPr lang="de-DE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Rounded Rectangle 9"/>
          <p:cNvSpPr/>
          <p:nvPr/>
        </p:nvSpPr>
        <p:spPr>
          <a:xfrm>
            <a:off x="715012" y="4567500"/>
            <a:ext cx="5593988" cy="1874520"/>
          </a:xfrm>
          <a:prstGeom prst="roundRect">
            <a:avLst>
              <a:gd name="adj" fmla="val 8000"/>
            </a:avLst>
          </a:prstGeom>
          <a:solidFill>
            <a:srgbClr val="EEEEE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TextBox 19"/>
          <p:cNvSpPr/>
          <p:nvPr/>
        </p:nvSpPr>
        <p:spPr>
          <a:xfrm>
            <a:off x="1005840" y="1947600"/>
            <a:ext cx="5303160" cy="1690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x = 1234.5678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print(f"{x:.2f}")   # 1234.57  - 2 decimal places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print(f"{x:.0f}")   # 1235     - no decimal places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print(f"{x:.2e}")   # 1.23e+03 - scientific notation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print(f"{x:.2g}")   # 1.2e+03  - significant digits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23"/>
          <p:cNvSpPr/>
          <p:nvPr/>
        </p:nvSpPr>
        <p:spPr>
          <a:xfrm>
            <a:off x="10881360" y="6419160"/>
            <a:ext cx="548280" cy="2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267"/>
                </a:solidFill>
                <a:effectLst/>
                <a:uFillTx/>
                <a:latin typeface="Aptos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Rounded Rectangle 1"/>
          <p:cNvSpPr/>
          <p:nvPr/>
        </p:nvSpPr>
        <p:spPr>
          <a:xfrm>
            <a:off x="731880" y="1763640"/>
            <a:ext cx="5577120" cy="2629456"/>
          </a:xfrm>
          <a:prstGeom prst="roundRect">
            <a:avLst>
              <a:gd name="adj" fmla="val 8000"/>
            </a:avLst>
          </a:prstGeom>
          <a:solidFill>
            <a:srgbClr val="EEEEE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20"/>
          <p:cNvSpPr/>
          <p:nvPr/>
        </p:nvSpPr>
        <p:spPr>
          <a:xfrm>
            <a:off x="1006200" y="1947600"/>
            <a:ext cx="5303160" cy="263003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 dirty="0">
                <a:solidFill>
                  <a:srgbClr val="262B30"/>
                </a:solidFill>
                <a:effectLst/>
                <a:uFillTx/>
                <a:latin typeface="Cascadia Code"/>
              </a:rPr>
              <a:t>x = 1234.5678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 dirty="0">
                <a:solidFill>
                  <a:srgbClr val="262B30"/>
                </a:solidFill>
                <a:effectLst/>
                <a:uFillTx/>
                <a:latin typeface="Cascadia Code"/>
              </a:rPr>
              <a:t>print(f"{x:.2f}")   # 1234.57  	</a:t>
            </a:r>
          </a:p>
          <a:p>
            <a:pPr defTabSz="457200">
              <a:lnSpc>
                <a:spcPct val="100000"/>
              </a:lnSpc>
            </a:pPr>
            <a:r>
              <a:rPr lang="en-US" sz="1500" dirty="0">
                <a:solidFill>
                  <a:srgbClr val="262B30"/>
                </a:solidFill>
                <a:latin typeface="Cascadia Code"/>
              </a:rPr>
              <a:t>						</a:t>
            </a:r>
            <a:r>
              <a:rPr lang="en-US" sz="1500" b="0" u="none" strike="noStrike" dirty="0">
                <a:solidFill>
                  <a:srgbClr val="262B30"/>
                </a:solidFill>
                <a:effectLst/>
                <a:uFillTx/>
                <a:latin typeface="Cascadia Code"/>
              </a:rPr>
              <a:t>- 2 decimal places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 dirty="0">
                <a:solidFill>
                  <a:srgbClr val="262B30"/>
                </a:solidFill>
                <a:effectLst/>
                <a:uFillTx/>
                <a:latin typeface="Cascadia Code"/>
              </a:rPr>
              <a:t>print(f"{x:.0f}")   # 1235     	</a:t>
            </a:r>
          </a:p>
          <a:p>
            <a:pPr defTabSz="457200">
              <a:lnSpc>
                <a:spcPct val="100000"/>
              </a:lnSpc>
            </a:pPr>
            <a:r>
              <a:rPr lang="en-US" sz="1500" dirty="0">
                <a:solidFill>
                  <a:srgbClr val="262B30"/>
                </a:solidFill>
                <a:latin typeface="Cascadia Code"/>
              </a:rPr>
              <a:t>						</a:t>
            </a:r>
            <a:r>
              <a:rPr lang="en-US" sz="1500" b="0" u="none" strike="noStrike" dirty="0">
                <a:solidFill>
                  <a:srgbClr val="262B30"/>
                </a:solidFill>
                <a:effectLst/>
                <a:uFillTx/>
                <a:latin typeface="Cascadia Code"/>
              </a:rPr>
              <a:t>- no decimal places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 dirty="0">
                <a:solidFill>
                  <a:srgbClr val="262B30"/>
                </a:solidFill>
                <a:effectLst/>
                <a:uFillTx/>
                <a:latin typeface="Cascadia Code"/>
              </a:rPr>
              <a:t>print(f"{x:.2e}")   # 1.23e+03 	</a:t>
            </a:r>
          </a:p>
          <a:p>
            <a:pPr defTabSz="457200">
              <a:lnSpc>
                <a:spcPct val="100000"/>
              </a:lnSpc>
            </a:pPr>
            <a:r>
              <a:rPr lang="en-US" sz="1500" dirty="0">
                <a:solidFill>
                  <a:srgbClr val="262B30"/>
                </a:solidFill>
                <a:latin typeface="Cascadia Code"/>
              </a:rPr>
              <a:t>						</a:t>
            </a:r>
            <a:r>
              <a:rPr lang="en-US" sz="1500" b="0" u="none" strike="noStrike" dirty="0">
                <a:solidFill>
                  <a:srgbClr val="262B30"/>
                </a:solidFill>
                <a:effectLst/>
                <a:uFillTx/>
                <a:latin typeface="Cascadia Code"/>
              </a:rPr>
              <a:t>- scientific notation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 dirty="0">
                <a:solidFill>
                  <a:srgbClr val="262B30"/>
                </a:solidFill>
                <a:effectLst/>
                <a:uFillTx/>
                <a:latin typeface="Cascadia Code"/>
              </a:rPr>
              <a:t>print(f"{x:.2g}")   # 1.2e+03 </a:t>
            </a:r>
          </a:p>
          <a:p>
            <a:pPr defTabSz="457200">
              <a:lnSpc>
                <a:spcPct val="100000"/>
              </a:lnSpc>
            </a:pPr>
            <a:r>
              <a:rPr lang="en-US" sz="1500" dirty="0">
                <a:solidFill>
                  <a:srgbClr val="262B30"/>
                </a:solidFill>
                <a:latin typeface="Cascadia Code"/>
              </a:rPr>
              <a:t>						</a:t>
            </a:r>
            <a:r>
              <a:rPr lang="en-US" sz="1500" b="0" u="none" strike="noStrike" dirty="0">
                <a:solidFill>
                  <a:srgbClr val="262B30"/>
                </a:solidFill>
                <a:effectLst/>
                <a:uFillTx/>
                <a:latin typeface="Cascadia Code"/>
              </a:rPr>
              <a:t>- significant digits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21"/>
          <p:cNvSpPr/>
          <p:nvPr/>
        </p:nvSpPr>
        <p:spPr>
          <a:xfrm>
            <a:off x="860426" y="4664548"/>
            <a:ext cx="5303160" cy="1690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 dirty="0">
                <a:solidFill>
                  <a:srgbClr val="262B30"/>
                </a:solidFill>
                <a:effectLst/>
                <a:uFillTx/>
                <a:latin typeface="Cascadia Code"/>
              </a:rPr>
              <a:t>n = 42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 dirty="0">
                <a:solidFill>
                  <a:srgbClr val="262B30"/>
                </a:solidFill>
                <a:effectLst/>
                <a:uFillTx/>
                <a:latin typeface="Cascadia Code"/>
              </a:rPr>
              <a:t>print(f"{n:05d}")   # 00042 	- pad with zeros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 dirty="0">
                <a:solidFill>
                  <a:srgbClr val="262B30"/>
                </a:solidFill>
                <a:effectLst/>
                <a:uFillTx/>
                <a:latin typeface="Cascadia Code"/>
              </a:rPr>
              <a:t>print(f"{n:&gt;5d}")   #    42 	- right-align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 dirty="0">
                <a:solidFill>
                  <a:srgbClr val="262B30"/>
                </a:solidFill>
                <a:effectLst/>
                <a:uFillTx/>
                <a:latin typeface="Cascadia Code"/>
              </a:rPr>
              <a:t>print(f"{n:&lt;5d}")   # 42    	- left-align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 dirty="0">
                <a:solidFill>
                  <a:srgbClr val="262B30"/>
                </a:solidFill>
                <a:effectLst/>
                <a:uFillTx/>
                <a:latin typeface="Cascadia Code"/>
              </a:rPr>
              <a:t>print(f"{n:^5d}")   #   42   - center-align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Rounded Rectangle 3"/>
          <p:cNvSpPr/>
          <p:nvPr/>
        </p:nvSpPr>
        <p:spPr>
          <a:xfrm>
            <a:off x="6582960" y="1743480"/>
            <a:ext cx="5463266" cy="3279094"/>
          </a:xfrm>
          <a:prstGeom prst="roundRect">
            <a:avLst>
              <a:gd name="adj" fmla="val 8000"/>
            </a:avLst>
          </a:prstGeom>
          <a:solidFill>
            <a:srgbClr val="EEEEE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TextBox 22"/>
          <p:cNvSpPr/>
          <p:nvPr/>
        </p:nvSpPr>
        <p:spPr>
          <a:xfrm>
            <a:off x="6811200" y="1886155"/>
            <a:ext cx="5303160" cy="263003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 dirty="0">
                <a:solidFill>
                  <a:srgbClr val="262B30"/>
                </a:solidFill>
                <a:effectLst/>
                <a:uFillTx/>
                <a:latin typeface="Cascadia Code"/>
              </a:rPr>
              <a:t>number = 1234567.89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 dirty="0">
                <a:solidFill>
                  <a:srgbClr val="262B30"/>
                </a:solidFill>
                <a:effectLst/>
                <a:uFillTx/>
                <a:latin typeface="Cascadia Code"/>
              </a:rPr>
              <a:t>rate = 0.856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 dirty="0">
                <a:solidFill>
                  <a:srgbClr val="262B30"/>
                </a:solidFill>
                <a:effectLst/>
                <a:uFillTx/>
                <a:latin typeface="Cascadia Code"/>
              </a:rPr>
              <a:t>n = 255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 dirty="0">
                <a:solidFill>
                  <a:srgbClr val="262B30"/>
                </a:solidFill>
                <a:effectLst/>
                <a:uFillTx/>
                <a:latin typeface="Cascadia Code"/>
              </a:rPr>
              <a:t>print(f"{number:,.2f}")	# 1,234,567.89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 dirty="0">
                <a:solidFill>
                  <a:srgbClr val="262B30"/>
                </a:solidFill>
                <a:effectLst/>
                <a:uFillTx/>
                <a:latin typeface="Cascadia Code"/>
              </a:rPr>
              <a:t>print(f"{rate:.1%}")		# 85.6%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 dirty="0">
                <a:solidFill>
                  <a:srgbClr val="262B30"/>
                </a:solidFill>
                <a:effectLst/>
                <a:uFillTx/>
                <a:latin typeface="Cascadia Code"/>
              </a:rPr>
              <a:t>print(f"{number:+.2f}")	# +1234567.89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 dirty="0">
                <a:solidFill>
                  <a:srgbClr val="262B30"/>
                </a:solidFill>
                <a:effectLst/>
                <a:uFillTx/>
                <a:latin typeface="Cascadia Code"/>
              </a:rPr>
              <a:t>print(f"{</a:t>
            </a:r>
            <a:r>
              <a:rPr lang="en-US" sz="1500" b="0" u="none" strike="noStrike" dirty="0" err="1">
                <a:solidFill>
                  <a:srgbClr val="262B30"/>
                </a:solidFill>
                <a:effectLst/>
                <a:uFillTx/>
                <a:latin typeface="Cascadia Code"/>
              </a:rPr>
              <a:t>n:b</a:t>
            </a:r>
            <a:r>
              <a:rPr lang="en-US" sz="1500" b="0" u="none" strike="noStrike" dirty="0">
                <a:solidFill>
                  <a:srgbClr val="262B30"/>
                </a:solidFill>
                <a:effectLst/>
                <a:uFillTx/>
                <a:latin typeface="Cascadia Code"/>
              </a:rPr>
              <a:t>}")			# 11111111 	- binary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 dirty="0">
                <a:solidFill>
                  <a:srgbClr val="262B30"/>
                </a:solidFill>
                <a:effectLst/>
                <a:uFillTx/>
                <a:latin typeface="Cascadia Code"/>
              </a:rPr>
              <a:t>print(f"{</a:t>
            </a:r>
            <a:r>
              <a:rPr lang="en-US" sz="1500" b="0" u="none" strike="noStrike" dirty="0" err="1">
                <a:solidFill>
                  <a:srgbClr val="262B30"/>
                </a:solidFill>
                <a:effectLst/>
                <a:uFillTx/>
                <a:latin typeface="Cascadia Code"/>
              </a:rPr>
              <a:t>n:x</a:t>
            </a:r>
            <a:r>
              <a:rPr lang="en-US" sz="1500" b="0" u="none" strike="noStrike" dirty="0">
                <a:solidFill>
                  <a:srgbClr val="262B30"/>
                </a:solidFill>
                <a:effectLst/>
                <a:uFillTx/>
                <a:latin typeface="Cascadia Code"/>
              </a:rPr>
              <a:t>}")			# ff  - hexadecimal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 dirty="0">
                <a:solidFill>
                  <a:srgbClr val="262B30"/>
                </a:solidFill>
                <a:effectLst/>
                <a:uFillTx/>
                <a:latin typeface="Cascadia Code"/>
              </a:rPr>
              <a:t>print(f"{</a:t>
            </a:r>
            <a:r>
              <a:rPr lang="en-US" sz="1500" b="0" u="none" strike="noStrike" dirty="0" err="1">
                <a:solidFill>
                  <a:srgbClr val="262B30"/>
                </a:solidFill>
                <a:effectLst/>
                <a:uFillTx/>
                <a:latin typeface="Cascadia Code"/>
              </a:rPr>
              <a:t>n:o</a:t>
            </a:r>
            <a:r>
              <a:rPr lang="en-US" sz="1500" b="0" u="none" strike="noStrike" dirty="0">
                <a:solidFill>
                  <a:srgbClr val="262B30"/>
                </a:solidFill>
                <a:effectLst/>
                <a:uFillTx/>
                <a:latin typeface="Cascadia Code"/>
              </a:rPr>
              <a:t>}")          # 377    	- octal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Rounded Rectangle 5"/>
          <p:cNvSpPr/>
          <p:nvPr/>
        </p:nvSpPr>
        <p:spPr>
          <a:xfrm>
            <a:off x="6582960" y="5166360"/>
            <a:ext cx="5463266" cy="1406718"/>
          </a:xfrm>
          <a:prstGeom prst="roundRect">
            <a:avLst>
              <a:gd name="adj" fmla="val 8000"/>
            </a:avLst>
          </a:prstGeom>
          <a:solidFill>
            <a:srgbClr val="EEEEE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TextBox 24"/>
          <p:cNvSpPr/>
          <p:nvPr/>
        </p:nvSpPr>
        <p:spPr>
          <a:xfrm>
            <a:off x="6743066" y="5253039"/>
            <a:ext cx="5303160" cy="12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 dirty="0">
                <a:solidFill>
                  <a:srgbClr val="262B30"/>
                </a:solidFill>
                <a:effectLst/>
                <a:uFillTx/>
                <a:latin typeface="Cascadia Code"/>
              </a:rPr>
              <a:t>x = 3.14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 dirty="0">
                <a:solidFill>
                  <a:srgbClr val="262B30"/>
                </a:solidFill>
                <a:effectLst/>
                <a:uFillTx/>
                <a:latin typeface="Cascadia Code"/>
              </a:rPr>
              <a:t>print(f"{x:10.2f}")   	#       3.14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 dirty="0">
                <a:solidFill>
                  <a:srgbClr val="262B30"/>
                </a:solidFill>
                <a:effectLst/>
                <a:uFillTx/>
                <a:latin typeface="Cascadia Code"/>
              </a:rPr>
              <a:t>print(f"{x:010.2f}")  	# 0000003.14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Box 1"/>
          <p:cNvSpPr/>
          <p:nvPr/>
        </p:nvSpPr>
        <p:spPr>
          <a:xfrm>
            <a:off x="658440" y="502920"/>
            <a:ext cx="107895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900" b="1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Escape-Zeichen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Rounded Rectangle 2"/>
          <p:cNvSpPr/>
          <p:nvPr/>
        </p:nvSpPr>
        <p:spPr>
          <a:xfrm>
            <a:off x="658440" y="1197720"/>
            <a:ext cx="685440" cy="40680"/>
          </a:xfrm>
          <a:prstGeom prst="roundRect">
            <a:avLst>
              <a:gd name="adj" fmla="val 8000"/>
            </a:avLst>
          </a:prstGeom>
          <a:solidFill>
            <a:srgbClr val="30677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5760" rIns="90000" bIns="-576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Box 3"/>
          <p:cNvSpPr/>
          <p:nvPr/>
        </p:nvSpPr>
        <p:spPr>
          <a:xfrm>
            <a:off x="658440" y="1353240"/>
            <a:ext cx="106981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5C6267"/>
                </a:solidFill>
                <a:effectLst/>
                <a:uFillTx/>
                <a:latin typeface="Aptos"/>
              </a:rPr>
              <a:t>Manchmal möchte man in einem String etwas Besonderes schreiben.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Rounded Rectangle 4"/>
          <p:cNvSpPr/>
          <p:nvPr/>
        </p:nvSpPr>
        <p:spPr>
          <a:xfrm>
            <a:off x="822960" y="1783080"/>
            <a:ext cx="5120280" cy="3520080"/>
          </a:xfrm>
          <a:prstGeom prst="roundRect">
            <a:avLst>
              <a:gd name="adj" fmla="val 8000"/>
            </a:avLst>
          </a:prstGeom>
          <a:solidFill>
            <a:srgbClr val="EEEEE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Box 5"/>
          <p:cNvSpPr/>
          <p:nvPr/>
        </p:nvSpPr>
        <p:spPr>
          <a:xfrm>
            <a:off x="1005840" y="1947600"/>
            <a:ext cx="4754520" cy="32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print("Hallo\nWelt")</a:t>
            </a:r>
            <a:br>
              <a:rPr sz="1500"/>
            </a:br>
            <a:br>
              <a:rPr sz="1500"/>
            </a:b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print("Er sagte: \"Hi\"")</a:t>
            </a:r>
            <a:br>
              <a:rPr sz="1500"/>
            </a:br>
            <a:br>
              <a:rPr sz="1500"/>
            </a:b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print("C:\\Users\\Alex")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6"/>
          <p:cNvSpPr/>
          <p:nvPr/>
        </p:nvSpPr>
        <p:spPr>
          <a:xfrm>
            <a:off x="6309360" y="182880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306777"/>
                </a:solidFill>
                <a:effectLst/>
                <a:uFillTx/>
                <a:latin typeface="Aptos"/>
              </a:rPr>
              <a:t>Ein paar wichtige Beispiele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7"/>
          <p:cNvSpPr/>
          <p:nvPr/>
        </p:nvSpPr>
        <p:spPr>
          <a:xfrm>
            <a:off x="6400800" y="2514600"/>
            <a:ext cx="8226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\n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8"/>
          <p:cNvSpPr/>
          <p:nvPr/>
        </p:nvSpPr>
        <p:spPr>
          <a:xfrm>
            <a:off x="7315200" y="2514600"/>
            <a:ext cx="3474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5C6267"/>
                </a:solidFill>
                <a:effectLst/>
                <a:uFillTx/>
                <a:latin typeface="Aptos"/>
              </a:rPr>
              <a:t>neue Zeile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9"/>
          <p:cNvSpPr/>
          <p:nvPr/>
        </p:nvSpPr>
        <p:spPr>
          <a:xfrm>
            <a:off x="6400800" y="3173040"/>
            <a:ext cx="8226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\"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10"/>
          <p:cNvSpPr/>
          <p:nvPr/>
        </p:nvSpPr>
        <p:spPr>
          <a:xfrm>
            <a:off x="7315200" y="3173040"/>
            <a:ext cx="3474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5C6267"/>
                </a:solidFill>
                <a:effectLst/>
                <a:uFillTx/>
                <a:latin typeface="Aptos"/>
              </a:rPr>
              <a:t>Anführungszeichen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11"/>
          <p:cNvSpPr/>
          <p:nvPr/>
        </p:nvSpPr>
        <p:spPr>
          <a:xfrm>
            <a:off x="6400800" y="3831480"/>
            <a:ext cx="8226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\\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12"/>
          <p:cNvSpPr/>
          <p:nvPr/>
        </p:nvSpPr>
        <p:spPr>
          <a:xfrm>
            <a:off x="7315200" y="3831480"/>
            <a:ext cx="3474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5C6267"/>
                </a:solidFill>
                <a:effectLst/>
                <a:uFillTx/>
                <a:latin typeface="Aptos"/>
              </a:rPr>
              <a:t>Backslash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13"/>
          <p:cNvSpPr/>
          <p:nvPr/>
        </p:nvSpPr>
        <p:spPr>
          <a:xfrm>
            <a:off x="6400800" y="4489560"/>
            <a:ext cx="8226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\t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14"/>
          <p:cNvSpPr/>
          <p:nvPr/>
        </p:nvSpPr>
        <p:spPr>
          <a:xfrm>
            <a:off x="7315200" y="4489560"/>
            <a:ext cx="3474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5C6267"/>
                </a:solidFill>
                <a:effectLst/>
                <a:uFillTx/>
                <a:latin typeface="Aptos"/>
              </a:rPr>
              <a:t>Tabulator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15"/>
          <p:cNvSpPr/>
          <p:nvPr/>
        </p:nvSpPr>
        <p:spPr>
          <a:xfrm>
            <a:off x="6355080" y="5349240"/>
            <a:ext cx="448020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5C6267"/>
                </a:solidFill>
                <a:effectLst/>
                <a:uFillTx/>
                <a:latin typeface="Aptos"/>
              </a:rPr>
              <a:t>Der Backslash zeigt Python: Das nächste Zeichen hat hier eine besondere Bedeutung.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16"/>
          <p:cNvSpPr/>
          <p:nvPr/>
        </p:nvSpPr>
        <p:spPr>
          <a:xfrm>
            <a:off x="10881360" y="6419160"/>
            <a:ext cx="548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267"/>
                </a:solidFill>
                <a:effectLst/>
                <a:uFillTx/>
                <a:latin typeface="Aptos"/>
              </a:rPr>
              <a:t>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"/>
          <p:cNvSpPr/>
          <p:nvPr/>
        </p:nvSpPr>
        <p:spPr>
          <a:xfrm>
            <a:off x="658440" y="502920"/>
            <a:ext cx="10789560" cy="532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900" b="1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Zum Schluss: Program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Rounded Rectangle 2"/>
          <p:cNvSpPr/>
          <p:nvPr/>
        </p:nvSpPr>
        <p:spPr>
          <a:xfrm>
            <a:off x="658440" y="1197720"/>
            <a:ext cx="685440" cy="40680"/>
          </a:xfrm>
          <a:prstGeom prst="roundRect">
            <a:avLst>
              <a:gd name="adj" fmla="val 8000"/>
            </a:avLst>
          </a:prstGeom>
          <a:solidFill>
            <a:srgbClr val="30677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5760" rIns="90000" bIns="-576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TextBox 4"/>
          <p:cNvSpPr/>
          <p:nvPr/>
        </p:nvSpPr>
        <p:spPr>
          <a:xfrm>
            <a:off x="822960" y="1828800"/>
            <a:ext cx="48459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306777"/>
                </a:solidFill>
                <a:effectLst/>
                <a:uFillTx/>
                <a:latin typeface="Aptos"/>
              </a:rPr>
              <a:t>Aufgabe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5"/>
          <p:cNvSpPr/>
          <p:nvPr/>
        </p:nvSpPr>
        <p:spPr>
          <a:xfrm>
            <a:off x="822960" y="2514600"/>
            <a:ext cx="475452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Schreibe ein Budget Tracker.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Rounded Rectangle 6"/>
          <p:cNvSpPr/>
          <p:nvPr/>
        </p:nvSpPr>
        <p:spPr>
          <a:xfrm>
            <a:off x="6401160" y="1600200"/>
            <a:ext cx="4114440" cy="2286000"/>
          </a:xfrm>
          <a:prstGeom prst="roundRect">
            <a:avLst>
              <a:gd name="adj" fmla="val 8000"/>
            </a:avLst>
          </a:prstGeom>
          <a:solidFill>
            <a:srgbClr val="EEEEE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TextBox 8"/>
          <p:cNvSpPr/>
          <p:nvPr/>
        </p:nvSpPr>
        <p:spPr>
          <a:xfrm>
            <a:off x="6812280" y="1828800"/>
            <a:ext cx="38401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306777"/>
                </a:solidFill>
                <a:effectLst/>
                <a:uFillTx/>
                <a:latin typeface="Aptos"/>
              </a:rPr>
              <a:t>Denk daran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9"/>
          <p:cNvSpPr/>
          <p:nvPr/>
        </p:nvSpPr>
        <p:spPr>
          <a:xfrm>
            <a:off x="6812280" y="2560320"/>
            <a:ext cx="4023000" cy="20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input() → etwas eingeben</a:t>
            </a:r>
            <a:br>
              <a:rPr sz="1700"/>
            </a:br>
            <a:r>
              <a:rPr lang="en-US" sz="1700" b="0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Variable → Wert speichern</a:t>
            </a:r>
            <a:br>
              <a:rPr sz="1700"/>
            </a:br>
            <a:r>
              <a:rPr lang="en-US" sz="1700" b="0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print() → etwas ausgeben</a:t>
            </a:r>
            <a:br>
              <a:rPr sz="1700"/>
            </a:br>
            <a:r>
              <a:rPr lang="en-US" sz="1700" b="0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f-String → Text + Variable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11"/>
          <p:cNvSpPr/>
          <p:nvPr/>
        </p:nvSpPr>
        <p:spPr>
          <a:xfrm>
            <a:off x="10881360" y="6419160"/>
            <a:ext cx="548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45000" rIns="2736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267"/>
                </a:solidFill>
                <a:effectLst/>
                <a:uFillTx/>
                <a:latin typeface="Aptos"/>
              </a:rPr>
              <a:t>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212</TotalTime>
  <Words>795</Words>
  <Application>Microsoft Office PowerPoint</Application>
  <PresentationFormat>Widescreen</PresentationFormat>
  <Paragraphs>106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Arial</vt:lpstr>
      <vt:lpstr>Calibri</vt:lpstr>
      <vt:lpstr>Cascadia Code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Melina</dc:creator>
  <dc:description>generated using python-pptx</dc:description>
  <cp:lastModifiedBy>Zach Melina, SchülerIn</cp:lastModifiedBy>
  <cp:revision>4</cp:revision>
  <dcterms:created xsi:type="dcterms:W3CDTF">2013-01-27T09:14:16Z</dcterms:created>
  <dcterms:modified xsi:type="dcterms:W3CDTF">2026-10-01T13:03:57Z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