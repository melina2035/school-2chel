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C0EA44-3D9E-47A7-92F7-D8EC552209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2FCFA8-0AB7-48EA-9AA0-816413410C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E2CF4E-3015-4A65-BE56-B414520773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A5BA66-0F02-435F-8405-D046AD5D67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D78377-6E90-462E-B187-5907E3ECC7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1E098E-E28D-419A-B07E-3BB0FF5679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EE5835-15DC-4D7B-B898-276FBBCA8B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6FBD7E-1722-4991-B004-9EC6E288F8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155D32-BDD5-41EC-B487-D070AC9684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441F1A-EB39-4E88-8AB8-E1BEA58601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63F2DC-ACC8-4324-9071-9EADA4A42D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749880" y="71316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PYTHON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749880" y="1234440"/>
            <a:ext cx="60346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Input &amp;</a:t>
            </a:r>
            <a:br>
              <a:rPr sz="4000"/>
            </a:br>
            <a:r>
              <a:rPr lang="en-US" sz="40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Output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77240" y="2788920"/>
            <a:ext cx="5211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Wie Python Daten bekommt</a:t>
            </a:r>
            <a:br>
              <a:rPr sz="2100"/>
            </a:br>
            <a:r>
              <a:rPr lang="en-US" sz="21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und sie wieder ausgibt.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4"/>
          <p:cNvSpPr/>
          <p:nvPr/>
        </p:nvSpPr>
        <p:spPr>
          <a:xfrm>
            <a:off x="6720840" y="1325880"/>
            <a:ext cx="4388760" cy="333720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6903720" y="1490400"/>
            <a:ext cx="402300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name = input("Name: ")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print("Hallo", name)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 Beispiel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Name: Alex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Hallo Alex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777240" y="580644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Ein kurzer Überblick mit einfachen Beispielen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658440" y="502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Was ist Input und Output?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658440" y="13532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Eigentlich ganz einfach: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822960" y="19659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Input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822960" y="2514600"/>
            <a:ext cx="4480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Das Programm bekommt etwas vom Benutzer.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Zum Beispiel einen Namen oder eine Zahl.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6172200" y="196596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Output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6172200" y="2514600"/>
            <a:ext cx="4571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Das Programm zeigt etwas an.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Zum Beispiel das Ergebnis einer Rechnung.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8"/>
          <p:cNvSpPr/>
          <p:nvPr/>
        </p:nvSpPr>
        <p:spPr>
          <a:xfrm>
            <a:off x="4526280" y="3977640"/>
            <a:ext cx="3931920" cy="594000"/>
          </a:xfrm>
          <a:prstGeom prst="roundRect">
            <a:avLst>
              <a:gd name="adj" fmla="val 8000"/>
            </a:avLst>
          </a:prstGeom>
          <a:solidFill>
            <a:srgbClr val="E8ED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4709160" y="4123800"/>
            <a:ext cx="32918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Input → Verarbeitung → Output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10"/>
          <p:cNvSpPr/>
          <p:nvPr/>
        </p:nvSpPr>
        <p:spPr>
          <a:xfrm>
            <a:off x="914400" y="4892040"/>
            <a:ext cx="10058040" cy="86832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1097280" y="5056560"/>
            <a:ext cx="9692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name = input("Wie heißt du? ")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print("Hallo", name)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658440" y="502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Mit print() etwas ausgeben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ounded Rectangle 4"/>
          <p:cNvSpPr/>
          <p:nvPr/>
        </p:nvSpPr>
        <p:spPr>
          <a:xfrm>
            <a:off x="822960" y="1874520"/>
            <a:ext cx="5486040" cy="242280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1005840" y="2039040"/>
            <a:ext cx="5120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print("Hello World")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name = "Alex"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print("Mein Name ist", name)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6629400" y="192024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Was passiert hier?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6629400" y="2560320"/>
            <a:ext cx="416016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• Text steht in Anführungszeichen.</a:t>
            </a:r>
            <a:br>
              <a:rPr sz="1600"/>
            </a:b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• Eine Variable steht ohne Anführungszeichen.</a:t>
            </a:r>
            <a:br>
              <a:rPr sz="1600"/>
            </a:b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• Mehrere Werte kann man mit Kommas ausgeben.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841320" y="4800600"/>
            <a:ext cx="5394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Ausgabe: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841320" y="5230440"/>
            <a:ext cx="5394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Hello World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Mein Name ist Alex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658440" y="502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print() ein bisschen genauer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658440" y="13532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Man kann auch bestimmen, wie die Ausgabe aussehen soll.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4"/>
          <p:cNvSpPr/>
          <p:nvPr/>
        </p:nvSpPr>
        <p:spPr>
          <a:xfrm>
            <a:off x="822960" y="1828800"/>
            <a:ext cx="5486040" cy="338292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1005840" y="1993320"/>
            <a:ext cx="512028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print("Ich bin", 21, "Jahre alt")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print("Hallo", end=" ")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print("Welt!")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6629400" y="187452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Das Komma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7"/>
          <p:cNvSpPr/>
          <p:nvPr/>
        </p:nvSpPr>
        <p:spPr>
          <a:xfrm>
            <a:off x="6629400" y="2423160"/>
            <a:ext cx="4251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Bei mehreren Werten setzt print() standardmäßig ein Leerzeichen dazwischen.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6629400" y="347472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end=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9"/>
          <p:cNvSpPr/>
          <p:nvPr/>
        </p:nvSpPr>
        <p:spPr>
          <a:xfrm>
            <a:off x="6629400" y="4023360"/>
            <a:ext cx="4251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Normalerweise macht print() danach eine neue Zeile.</a:t>
            </a:r>
            <a:br>
              <a:rPr sz="1600"/>
            </a:b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Mit end=" " bleibt man in derselben Zeile.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1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658440" y="502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Variablen in Text einsetzen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658440" y="13532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Eine praktische Möglichkeit dafür sind f-Strings.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4"/>
          <p:cNvSpPr/>
          <p:nvPr/>
        </p:nvSpPr>
        <p:spPr>
          <a:xfrm>
            <a:off x="822960" y="1783080"/>
            <a:ext cx="5668920" cy="379440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1005840" y="1947600"/>
            <a:ext cx="5303160" cy="23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name = "John"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age = 30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print(f"Ich heiße {name}.")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print(f"Ich bin {age:.2f} Jahre alt.")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 {name} und {age} werden ersetzt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#Ich heiße </a:t>
            </a:r>
            <a:r>
              <a:rPr lang="en-US" sz="1500" b="0" u="none" strike="noStrike">
                <a:solidFill>
                  <a:srgbClr val="262B30"/>
                </a:solidFill>
                <a:effectLst/>
                <a:highlight>
                  <a:srgbClr val="FFFF00"/>
                </a:highlight>
                <a:uFillTx/>
                <a:latin typeface="Cascadia Code"/>
              </a:rPr>
              <a:t>John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#Ich bin </a:t>
            </a:r>
            <a:r>
              <a:rPr lang="en-US" sz="1500" b="0" u="none" strike="noStrike">
                <a:solidFill>
                  <a:srgbClr val="262B30"/>
                </a:solidFill>
                <a:effectLst/>
                <a:highlight>
                  <a:srgbClr val="FFFF00"/>
                </a:highlight>
                <a:uFillTx/>
                <a:latin typeface="Cascadia Code"/>
              </a:rPr>
              <a:t>30.00</a:t>
            </a: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 Jahre alt.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6"/>
          <p:cNvSpPr/>
          <p:nvPr/>
        </p:nvSpPr>
        <p:spPr>
          <a:xfrm>
            <a:off x="6812280" y="1828800"/>
            <a:ext cx="3931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Die Idee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7"/>
          <p:cNvSpPr/>
          <p:nvPr/>
        </p:nvSpPr>
        <p:spPr>
          <a:xfrm>
            <a:off x="6812280" y="2468880"/>
            <a:ext cx="4023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Ein f vor dem String bedeutet: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„Setze die Variablen in den geschweiften Klammern ein.“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8"/>
          <p:cNvSpPr/>
          <p:nvPr/>
        </p:nvSpPr>
        <p:spPr>
          <a:xfrm>
            <a:off x="6812280" y="4251960"/>
            <a:ext cx="3840120" cy="1051200"/>
          </a:xfrm>
          <a:prstGeom prst="roundRect">
            <a:avLst>
              <a:gd name="adj" fmla="val 8000"/>
            </a:avLst>
          </a:prstGeom>
          <a:solidFill>
            <a:srgbClr val="E8ED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9"/>
          <p:cNvSpPr/>
          <p:nvPr/>
        </p:nvSpPr>
        <p:spPr>
          <a:xfrm>
            <a:off x="7040880" y="4480560"/>
            <a:ext cx="33829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print(f"Hallo {name}")</a:t>
            </a:r>
            <a:br>
              <a:rPr sz="1600"/>
            </a:br>
            <a:r>
              <a:rPr lang="en-US" sz="16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→ Hallo John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658440" y="502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Escape-Zeichen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658440" y="13532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Manchmal möchte man in einem String etwas Besonderes schreiben.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822960" y="1783080"/>
            <a:ext cx="5120280" cy="352008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1005840" y="1947600"/>
            <a:ext cx="475452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print("Hallo\nWelt")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print("Er sagte: \"Hi\"")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print("C:\\Users\\Alex")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6309360" y="18288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Ein paar wichtige Beispiele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6400800" y="251460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\n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8"/>
          <p:cNvSpPr/>
          <p:nvPr/>
        </p:nvSpPr>
        <p:spPr>
          <a:xfrm>
            <a:off x="7315200" y="251460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neue Zeile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9"/>
          <p:cNvSpPr/>
          <p:nvPr/>
        </p:nvSpPr>
        <p:spPr>
          <a:xfrm>
            <a:off x="6400800" y="317304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\"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0"/>
          <p:cNvSpPr/>
          <p:nvPr/>
        </p:nvSpPr>
        <p:spPr>
          <a:xfrm>
            <a:off x="7315200" y="317304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Anführungszeichen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1"/>
          <p:cNvSpPr/>
          <p:nvPr/>
        </p:nvSpPr>
        <p:spPr>
          <a:xfrm>
            <a:off x="6400800" y="383148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\\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2"/>
          <p:cNvSpPr/>
          <p:nvPr/>
        </p:nvSpPr>
        <p:spPr>
          <a:xfrm>
            <a:off x="7315200" y="383148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Backslash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3"/>
          <p:cNvSpPr/>
          <p:nvPr/>
        </p:nvSpPr>
        <p:spPr>
          <a:xfrm>
            <a:off x="6400800" y="448956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\t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4"/>
          <p:cNvSpPr/>
          <p:nvPr/>
        </p:nvSpPr>
        <p:spPr>
          <a:xfrm>
            <a:off x="7315200" y="448956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Tabulator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5"/>
          <p:cNvSpPr/>
          <p:nvPr/>
        </p:nvSpPr>
        <p:spPr>
          <a:xfrm>
            <a:off x="6355080" y="5349240"/>
            <a:ext cx="4480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Der Backslash zeigt Python: Das nächste Zeichen hat hier eine besondere Bedeutung.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6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"/>
          <p:cNvSpPr/>
          <p:nvPr/>
        </p:nvSpPr>
        <p:spPr>
          <a:xfrm>
            <a:off x="658440" y="502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Zum Schluss: kleine Übung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2"/>
          <p:cNvSpPr/>
          <p:nvPr/>
        </p:nvSpPr>
        <p:spPr>
          <a:xfrm>
            <a:off x="658440" y="1197720"/>
            <a:ext cx="685440" cy="40680"/>
          </a:xfrm>
          <a:prstGeom prst="roundRect">
            <a:avLst>
              <a:gd name="adj" fmla="val 8000"/>
            </a:avLst>
          </a:prstGeom>
          <a:solidFill>
            <a:srgbClr val="3067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5760" rIns="90000" bIns="-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658440" y="13532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Jetzt einmal selbst ausprobieren.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822960" y="1828800"/>
            <a:ext cx="484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Aufgabe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822960" y="251460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Schreibe ein Programm, das nach deinem Namen und deinem Alter fragt und beides wieder ausgibt.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6"/>
          <p:cNvSpPr/>
          <p:nvPr/>
        </p:nvSpPr>
        <p:spPr>
          <a:xfrm>
            <a:off x="822960" y="3977640"/>
            <a:ext cx="5486040" cy="1554120"/>
          </a:xfrm>
          <a:prstGeom prst="roundRect">
            <a:avLst>
              <a:gd name="adj" fmla="val 8000"/>
            </a:avLst>
          </a:prstGeom>
          <a:solidFill>
            <a:srgbClr val="EEEE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7"/>
          <p:cNvSpPr/>
          <p:nvPr/>
        </p:nvSpPr>
        <p:spPr>
          <a:xfrm>
            <a:off x="1005840" y="4142160"/>
            <a:ext cx="51202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name = input("Name: ")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age = input("Alter: ")</a:t>
            </a:r>
            <a:br>
              <a:rPr sz="1500"/>
            </a:br>
            <a:r>
              <a:rPr lang="en-US" sz="1500" b="0" u="none" strike="noStrike">
                <a:solidFill>
                  <a:srgbClr val="262B30"/>
                </a:solidFill>
                <a:effectLst/>
                <a:uFillTx/>
                <a:latin typeface="Cascadia Code"/>
              </a:rPr>
              <a:t>print(f"Hallo {name}, du bist {age}.")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6812280" y="182880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06777"/>
                </a:solidFill>
                <a:effectLst/>
                <a:uFillTx/>
                <a:latin typeface="Aptos"/>
              </a:rPr>
              <a:t>Denk daran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9"/>
          <p:cNvSpPr/>
          <p:nvPr/>
        </p:nvSpPr>
        <p:spPr>
          <a:xfrm>
            <a:off x="6812280" y="2560320"/>
            <a:ext cx="40230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input() → etwas eingeben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Variable → Wert speichern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print() → etwas ausgeben</a:t>
            </a:r>
            <a:br>
              <a:rPr sz="1700"/>
            </a:br>
            <a:r>
              <a:rPr lang="en-US" sz="1700" b="0" u="none" strike="noStrike">
                <a:solidFill>
                  <a:srgbClr val="262B30"/>
                </a:solidFill>
                <a:effectLst/>
                <a:uFillTx/>
                <a:latin typeface="Aptos"/>
              </a:rPr>
              <a:t>f-String → Text + Variable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0"/>
          <p:cNvSpPr/>
          <p:nvPr/>
        </p:nvSpPr>
        <p:spPr>
          <a:xfrm>
            <a:off x="6812280" y="5074920"/>
            <a:ext cx="3748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Tipp: Einfach testen und schauen,</a:t>
            </a:r>
            <a:br>
              <a:rPr sz="1500"/>
            </a:br>
            <a:r>
              <a:rPr lang="en-US" sz="15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was passiert.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1"/>
          <p:cNvSpPr/>
          <p:nvPr/>
        </p:nvSpPr>
        <p:spPr>
          <a:xfrm>
            <a:off x="10881360" y="64191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267"/>
                </a:solidFill>
                <a:effectLst/>
                <a:uFillTx/>
                <a:latin typeface="Aptos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2026-09-30T15:51:26Z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